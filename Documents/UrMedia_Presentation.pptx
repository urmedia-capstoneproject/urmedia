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
  </p:notesMasterIdLst>
  <p:sldIdLst>
    <p:sldId id="256" r:id="rId2"/>
    <p:sldId id="258" r:id="rId3"/>
    <p:sldId id="257" r:id="rId4"/>
    <p:sldId id="259" r:id="rId5"/>
    <p:sldId id="260" r:id="rId6"/>
    <p:sldId id="261" r:id="rId7"/>
    <p:sldId id="262" r:id="rId8"/>
    <p:sldId id="267" r:id="rId9"/>
    <p:sldId id="263" r:id="rId10"/>
    <p:sldId id="264" r:id="rId11"/>
    <p:sldId id="270" r:id="rId12"/>
    <p:sldId id="269" r:id="rId13"/>
    <p:sldId id="265"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D86159-9DBD-A037-1E3A-9357A51BDAD0}" v="1765" dt="2026-02-12T02:39:53.940"/>
    <p1510:client id="{4901055A-F9DB-D42F-0689-977C93C7C276}" v="56" dt="2026-02-12T04:28:35.964"/>
    <p1510:client id="{6ECB98AD-6F6B-6F2C-5A56-DEA0F6893049}" v="2059" dt="2026-02-12T04:32:57.270"/>
    <p1510:client id="{9471A224-AFDE-A484-725B-671E791BD8BB}" v="141" dt="2026-02-12T07:47:23.933"/>
    <p1510:client id="{A216E345-2265-964C-CAC6-172BCB037B5E}" v="145" dt="2026-02-12T16:04:43.881"/>
    <p1510:client id="{B3ACCB4C-B1CB-7D56-B39E-78881A290BB7}" v="403" dt="2026-02-12T04:19:12.955"/>
    <p1510:client id="{C1B05A8E-B47F-5763-6624-268A589759BE}" v="26" dt="2026-02-12T04:10:53.516"/>
    <p1510:client id="{DAEA9ED9-6A80-4DE9-1A2A-9DDECB3781AE}" v="17" dt="2026-02-12T04:15:04.2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963699-46BC-405F-8D82-BEA18D84F058}" type="datetimeFigureOut">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8D23BA-B62B-4385-BAC4-3EDAF438F8D6}" type="slidenum">
              <a:t>‹#›</a:t>
            </a:fld>
            <a:endParaRPr lang="en-US"/>
          </a:p>
        </p:txBody>
      </p:sp>
    </p:spTree>
    <p:extLst>
      <p:ext uri="{BB962C8B-B14F-4D97-AF65-F5344CB8AC3E}">
        <p14:creationId xmlns:p14="http://schemas.microsoft.com/office/powerpoint/2010/main" val="1704356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Calibri"/>
              <a:buChar char="-"/>
            </a:pPr>
            <a:endParaRPr lang="en-US"/>
          </a:p>
        </p:txBody>
      </p:sp>
      <p:sp>
        <p:nvSpPr>
          <p:cNvPr id="4" name="Slide Number Placeholder 3"/>
          <p:cNvSpPr>
            <a:spLocks noGrp="1"/>
          </p:cNvSpPr>
          <p:nvPr>
            <p:ph type="sldNum" sz="quarter" idx="5"/>
          </p:nvPr>
        </p:nvSpPr>
        <p:spPr/>
        <p:txBody>
          <a:bodyPr/>
          <a:lstStyle/>
          <a:p>
            <a:fld id="{468D23BA-B62B-4385-BAC4-3EDAF438F8D6}" type="slidenum">
              <a:t>14</a:t>
            </a:fld>
            <a:endParaRPr lang="en-US"/>
          </a:p>
        </p:txBody>
      </p:sp>
    </p:spTree>
    <p:extLst>
      <p:ext uri="{BB962C8B-B14F-4D97-AF65-F5344CB8AC3E}">
        <p14:creationId xmlns:p14="http://schemas.microsoft.com/office/powerpoint/2010/main" val="3480741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68650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30267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9552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72292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72941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37708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3541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1267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90862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30941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2/12/2026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0931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2/12/2026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50728787"/>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697" r:id="rId4"/>
    <p:sldLayoutId id="2147483698" r:id="rId5"/>
    <p:sldLayoutId id="2147483703" r:id="rId6"/>
    <p:sldLayoutId id="2147483699" r:id="rId7"/>
    <p:sldLayoutId id="2147483700" r:id="rId8"/>
    <p:sldLayoutId id="2147483701" r:id="rId9"/>
    <p:sldLayoutId id="2147483702" r:id="rId10"/>
    <p:sldLayoutId id="2147483704"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25" name="Picture 24">
            <a:extLst>
              <a:ext uri="{FF2B5EF4-FFF2-40B4-BE49-F238E27FC236}">
                <a16:creationId xmlns:a16="http://schemas.microsoft.com/office/drawing/2014/main" id="{84E9EBB9-779B-A575-1487-BFBB48B8DEE1}"/>
              </a:ext>
            </a:extLst>
          </p:cNvPr>
          <p:cNvPicPr>
            <a:picLocks noChangeAspect="1"/>
          </p:cNvPicPr>
          <p:nvPr/>
        </p:nvPicPr>
        <p:blipFill>
          <a:blip r:embed="rId2"/>
          <a:srcRect t="27847" r="9085" b="21014"/>
          <a:stretch>
            <a:fillRect/>
          </a:stretch>
        </p:blipFill>
        <p:spPr>
          <a:xfrm>
            <a:off x="20" y="10"/>
            <a:ext cx="12191979" cy="6857990"/>
          </a:xfrm>
          <a:prstGeom prst="rect">
            <a:avLst/>
          </a:prstGeom>
        </p:spPr>
      </p:pic>
      <p:sp>
        <p:nvSpPr>
          <p:cNvPr id="26" name="Rectangle 25">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p:cNvSpPr>
            <a:spLocks noGrp="1"/>
          </p:cNvSpPr>
          <p:nvPr>
            <p:ph type="ctrTitle"/>
          </p:nvPr>
        </p:nvSpPr>
        <p:spPr>
          <a:xfrm>
            <a:off x="438910" y="978408"/>
            <a:ext cx="4795819" cy="3969960"/>
          </a:xfrm>
        </p:spPr>
        <p:txBody>
          <a:bodyPr anchor="t">
            <a:normAutofit/>
          </a:bodyPr>
          <a:lstStyle/>
          <a:p>
            <a:r>
              <a:rPr lang="en-US" sz="6600"/>
              <a:t>UrMedia</a:t>
            </a:r>
          </a:p>
        </p:txBody>
      </p:sp>
      <p:sp>
        <p:nvSpPr>
          <p:cNvPr id="3" name="Subtitle 2"/>
          <p:cNvSpPr>
            <a:spLocks noGrp="1"/>
          </p:cNvSpPr>
          <p:nvPr>
            <p:ph type="subTitle" idx="1"/>
          </p:nvPr>
        </p:nvSpPr>
        <p:spPr>
          <a:xfrm>
            <a:off x="438910" y="4948369"/>
            <a:ext cx="4381634" cy="1157436"/>
          </a:xfrm>
        </p:spPr>
        <p:txBody>
          <a:bodyPr vert="horz" lIns="91440" tIns="45720" rIns="91440" bIns="45720" rtlCol="0" anchor="b">
            <a:normAutofit/>
          </a:bodyPr>
          <a:lstStyle/>
          <a:p>
            <a:pPr>
              <a:lnSpc>
                <a:spcPct val="100000"/>
              </a:lnSpc>
            </a:pPr>
            <a:r>
              <a:rPr lang="en-US"/>
              <a:t>Austin Rowland, </a:t>
            </a:r>
            <a:r>
              <a:rPr lang="en-US">
                <a:latin typeface="Calibri"/>
                <a:ea typeface="Calibri"/>
                <a:cs typeface="Calibri"/>
              </a:rPr>
              <a:t>Elizabeth Rowland</a:t>
            </a:r>
            <a:r>
              <a:rPr lang="en-US"/>
              <a:t>, Skyler Yarbrough, and Dhruv Zaver</a:t>
            </a:r>
          </a:p>
        </p:txBody>
      </p:sp>
      <p:sp>
        <p:nvSpPr>
          <p:cNvPr id="27" name="Rectangle 26">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64F60-CE5E-7A6F-D99F-ABFE47E256A6}"/>
              </a:ext>
            </a:extLst>
          </p:cNvPr>
          <p:cNvSpPr>
            <a:spLocks noGrp="1"/>
          </p:cNvSpPr>
          <p:nvPr>
            <p:ph type="title"/>
          </p:nvPr>
        </p:nvSpPr>
        <p:spPr>
          <a:xfrm>
            <a:off x="521208" y="1116119"/>
            <a:ext cx="11155680" cy="1463040"/>
          </a:xfrm>
        </p:spPr>
        <p:txBody>
          <a:bodyPr/>
          <a:lstStyle/>
          <a:p>
            <a:pPr algn="ctr"/>
            <a:r>
              <a:rPr lang="en-US"/>
              <a:t>Introduction</a:t>
            </a:r>
          </a:p>
        </p:txBody>
      </p:sp>
      <p:sp>
        <p:nvSpPr>
          <p:cNvPr id="3" name="Content Placeholder 2">
            <a:extLst>
              <a:ext uri="{FF2B5EF4-FFF2-40B4-BE49-F238E27FC236}">
                <a16:creationId xmlns:a16="http://schemas.microsoft.com/office/drawing/2014/main" id="{6B0F051A-B12F-B0AB-2B7E-BDADE6A75EC4}"/>
              </a:ext>
            </a:extLst>
          </p:cNvPr>
          <p:cNvSpPr>
            <a:spLocks noGrp="1"/>
          </p:cNvSpPr>
          <p:nvPr>
            <p:ph idx="1"/>
          </p:nvPr>
        </p:nvSpPr>
        <p:spPr/>
        <p:txBody>
          <a:bodyPr vert="horz" lIns="91440" tIns="45720" rIns="91440" bIns="45720" rtlCol="0" anchor="t">
            <a:normAutofit/>
          </a:bodyPr>
          <a:lstStyle/>
          <a:p>
            <a:endParaRPr lang="en-US"/>
          </a:p>
          <a:p>
            <a:endParaRPr lang="en-US"/>
          </a:p>
        </p:txBody>
      </p:sp>
      <p:sp>
        <p:nvSpPr>
          <p:cNvPr id="6" name="TextBox 5">
            <a:extLst>
              <a:ext uri="{FF2B5EF4-FFF2-40B4-BE49-F238E27FC236}">
                <a16:creationId xmlns:a16="http://schemas.microsoft.com/office/drawing/2014/main" id="{04D3388D-EB04-7FAB-8E68-DECC22FF8484}"/>
              </a:ext>
            </a:extLst>
          </p:cNvPr>
          <p:cNvSpPr txBox="1"/>
          <p:nvPr/>
        </p:nvSpPr>
        <p:spPr>
          <a:xfrm>
            <a:off x="520094" y="2242209"/>
            <a:ext cx="11154724" cy="25412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pPr>
            <a:r>
              <a:rPr lang="en-US" err="1"/>
              <a:t>UrMedia</a:t>
            </a:r>
            <a:r>
              <a:rPr lang="en-US"/>
              <a:t> aims to reduce the number of media tracking services a consumer must sign up for by consolidating all trackers into a single, easy-to-use site. On </a:t>
            </a:r>
            <a:r>
              <a:rPr lang="en-US" err="1"/>
              <a:t>UrMedia</a:t>
            </a:r>
            <a:r>
              <a:rPr lang="en-US"/>
              <a:t>, a user can log all the books, video games, anime, manga, and movies they consume in one place, write reviews, and follow the releases of their favorite upcoming series. The customizable user dashboard will display content relevant to the individual, such as their “plan to watch” or “in-progress” lists, in a clean interface that removes the clutter found in most tracker applications.</a:t>
            </a:r>
          </a:p>
        </p:txBody>
      </p:sp>
    </p:spTree>
    <p:extLst>
      <p:ext uri="{BB962C8B-B14F-4D97-AF65-F5344CB8AC3E}">
        <p14:creationId xmlns:p14="http://schemas.microsoft.com/office/powerpoint/2010/main" val="2283795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FFD05A-D007-C87C-5070-F0067CA1C920}"/>
              </a:ext>
            </a:extLst>
          </p:cNvPr>
          <p:cNvSpPr>
            <a:spLocks noGrp="1"/>
          </p:cNvSpPr>
          <p:nvPr>
            <p:ph type="title"/>
          </p:nvPr>
        </p:nvSpPr>
        <p:spPr>
          <a:xfrm>
            <a:off x="521208" y="978408"/>
            <a:ext cx="6300216" cy="1325880"/>
          </a:xfrm>
        </p:spPr>
        <p:txBody>
          <a:bodyPr vert="horz" lIns="91440" tIns="45720" rIns="91440" bIns="45720" rtlCol="0" anchor="t">
            <a:normAutofit/>
          </a:bodyPr>
          <a:lstStyle/>
          <a:p>
            <a:r>
              <a:rPr lang="en-US" b="1" kern="1200">
                <a:solidFill>
                  <a:schemeClr val="tx1"/>
                </a:solidFill>
                <a:latin typeface="+mj-lt"/>
                <a:ea typeface="+mj-ea"/>
                <a:cs typeface="+mj-cs"/>
              </a:rPr>
              <a:t>Sign in/Sign up</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A drawing of a sign up&#10;&#10;AI-generated content may be incorrect.">
            <a:extLst>
              <a:ext uri="{FF2B5EF4-FFF2-40B4-BE49-F238E27FC236}">
                <a16:creationId xmlns:a16="http://schemas.microsoft.com/office/drawing/2014/main" id="{47996FF2-3399-9670-8272-2582420BF6C7}"/>
              </a:ext>
            </a:extLst>
          </p:cNvPr>
          <p:cNvPicPr>
            <a:picLocks noGrp="1" noChangeAspect="1"/>
          </p:cNvPicPr>
          <p:nvPr>
            <p:ph sz="half" idx="2"/>
          </p:nvPr>
        </p:nvPicPr>
        <p:blipFill>
          <a:blip r:embed="rId2"/>
          <a:stretch>
            <a:fillRect/>
          </a:stretch>
        </p:blipFill>
        <p:spPr>
          <a:xfrm>
            <a:off x="269988" y="2301192"/>
            <a:ext cx="6796048" cy="3962186"/>
          </a:xfrm>
          <a:prstGeom prst="rect">
            <a:avLst/>
          </a:prstGeom>
        </p:spPr>
      </p:pic>
      <p:sp>
        <p:nvSpPr>
          <p:cNvPr id="3" name="Content Placeholder 2">
            <a:extLst>
              <a:ext uri="{FF2B5EF4-FFF2-40B4-BE49-F238E27FC236}">
                <a16:creationId xmlns:a16="http://schemas.microsoft.com/office/drawing/2014/main" id="{CC35976D-1EE6-FFB0-62D3-779D727B5760}"/>
              </a:ext>
            </a:extLst>
          </p:cNvPr>
          <p:cNvSpPr>
            <a:spLocks noGrp="1"/>
          </p:cNvSpPr>
          <p:nvPr>
            <p:ph sz="half" idx="1"/>
          </p:nvPr>
        </p:nvSpPr>
        <p:spPr>
          <a:xfrm>
            <a:off x="7507224" y="1088136"/>
            <a:ext cx="4160520" cy="5257800"/>
          </a:xfrm>
        </p:spPr>
        <p:txBody>
          <a:bodyPr vert="horz" lIns="91440" tIns="45720" rIns="91440" bIns="45720" rtlCol="0">
            <a:normAutofit/>
          </a:bodyPr>
          <a:lstStyle/>
          <a:p>
            <a:r>
              <a:rPr lang="en-US"/>
              <a:t>The page consists of one button for sign in, and one button for sign up</a:t>
            </a:r>
          </a:p>
          <a:p>
            <a:r>
              <a:rPr lang="en-US"/>
              <a:t>Google Authentication will be used for account creation and login</a:t>
            </a:r>
          </a:p>
          <a:p>
            <a:r>
              <a:rPr lang="en-US"/>
              <a:t>If user does not have an account linked to the email, an account will be created in the database, and they will be redirected to the profile edit modal for customization</a:t>
            </a:r>
          </a:p>
          <a:p>
            <a:r>
              <a:rPr lang="en-US"/>
              <a:t>Once the user is logged in, they have access to the friends and countdown tabs on the media page, as well as the ability to create lists and add media</a:t>
            </a:r>
          </a:p>
        </p:txBody>
      </p:sp>
    </p:spTree>
    <p:extLst>
      <p:ext uri="{BB962C8B-B14F-4D97-AF65-F5344CB8AC3E}">
        <p14:creationId xmlns:p14="http://schemas.microsoft.com/office/powerpoint/2010/main" val="933793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0" name="Rectangle 19">
            <a:extLst>
              <a:ext uri="{FF2B5EF4-FFF2-40B4-BE49-F238E27FC236}">
                <a16:creationId xmlns:a16="http://schemas.microsoft.com/office/drawing/2014/main" id="{A082E5AA-6E5F-4FCC-8C41-11E32F833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FDE66F-5CEF-2E04-D604-178FB3B2F85B}"/>
              </a:ext>
            </a:extLst>
          </p:cNvPr>
          <p:cNvSpPr>
            <a:spLocks noGrp="1"/>
          </p:cNvSpPr>
          <p:nvPr>
            <p:ph type="title"/>
          </p:nvPr>
        </p:nvSpPr>
        <p:spPr>
          <a:xfrm>
            <a:off x="521208" y="978408"/>
            <a:ext cx="5102352" cy="1664208"/>
          </a:xfrm>
        </p:spPr>
        <p:txBody>
          <a:bodyPr vert="horz" lIns="91440" tIns="45720" rIns="91440" bIns="45720" rtlCol="0" anchor="t">
            <a:normAutofit/>
          </a:bodyPr>
          <a:lstStyle/>
          <a:p>
            <a:r>
              <a:rPr lang="en-US" b="1" kern="1200">
                <a:solidFill>
                  <a:schemeClr val="tx1"/>
                </a:solidFill>
                <a:latin typeface="+mj-lt"/>
                <a:ea typeface="+mj-ea"/>
                <a:cs typeface="+mj-cs"/>
              </a:rPr>
              <a:t>Navigation Bar</a:t>
            </a:r>
          </a:p>
        </p:txBody>
      </p:sp>
      <p:sp>
        <p:nvSpPr>
          <p:cNvPr id="22" name="Rectangle 21">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5622" y="612648"/>
            <a:ext cx="551383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Placeholder 12" descr="A blue and black text&#10;&#10;AI-generated content may be incorrect.">
            <a:extLst>
              <a:ext uri="{FF2B5EF4-FFF2-40B4-BE49-F238E27FC236}">
                <a16:creationId xmlns:a16="http://schemas.microsoft.com/office/drawing/2014/main" id="{EDEC5AB9-33CF-B0A1-641A-C70781BF90EE}"/>
              </a:ext>
            </a:extLst>
          </p:cNvPr>
          <p:cNvPicPr>
            <a:picLocks noGrp="1" noChangeAspect="1"/>
          </p:cNvPicPr>
          <p:nvPr>
            <p:ph type="pic" idx="1"/>
          </p:nvPr>
        </p:nvPicPr>
        <p:blipFill>
          <a:blip r:embed="rId2"/>
          <a:srcRect l="-132" t="-758" r="-926"/>
          <a:stretch>
            <a:fillRect/>
          </a:stretch>
        </p:blipFill>
        <p:spPr>
          <a:xfrm>
            <a:off x="237134" y="4595467"/>
            <a:ext cx="11779893" cy="2055063"/>
          </a:xfrm>
          <a:prstGeom prst="rect">
            <a:avLst/>
          </a:prstGeom>
        </p:spPr>
      </p:pic>
      <p:sp>
        <p:nvSpPr>
          <p:cNvPr id="4" name="Text Placeholder 3">
            <a:extLst>
              <a:ext uri="{FF2B5EF4-FFF2-40B4-BE49-F238E27FC236}">
                <a16:creationId xmlns:a16="http://schemas.microsoft.com/office/drawing/2014/main" id="{E7A059FB-D06F-A77A-BD14-F46E7D8E8DF4}"/>
              </a:ext>
            </a:extLst>
          </p:cNvPr>
          <p:cNvSpPr>
            <a:spLocks noGrp="1"/>
          </p:cNvSpPr>
          <p:nvPr>
            <p:ph type="body" sz="half" idx="2"/>
          </p:nvPr>
        </p:nvSpPr>
        <p:spPr>
          <a:xfrm>
            <a:off x="6153030" y="978408"/>
            <a:ext cx="5514714" cy="3622949"/>
          </a:xfrm>
        </p:spPr>
        <p:txBody>
          <a:bodyPr vert="horz" lIns="91440" tIns="45720" rIns="91440" bIns="45720" rtlCol="0">
            <a:normAutofit/>
          </a:bodyPr>
          <a:lstStyle/>
          <a:p>
            <a:pPr marL="342900" indent="-228600">
              <a:buFont typeface="Arial" panose="020B0604020202020204" pitchFamily="34" charset="0"/>
              <a:buChar char="•"/>
            </a:pPr>
            <a:r>
              <a:rPr lang="en-US" i="0"/>
              <a:t>The website will have a global navigation bar that exists across all pages</a:t>
            </a:r>
          </a:p>
          <a:p>
            <a:pPr marL="342900" indent="-228600">
              <a:buFont typeface="Arial" panose="020B0604020202020204" pitchFamily="34" charset="0"/>
              <a:buChar char="•"/>
            </a:pPr>
            <a:r>
              <a:rPr lang="en-US" i="0"/>
              <a:t>It will have a link to the profile page, the media page, a catalog page, a search filter, and a search bar.</a:t>
            </a:r>
          </a:p>
          <a:p>
            <a:pPr marL="342900" indent="-228600">
              <a:buFont typeface="Arial" panose="020B0604020202020204" pitchFamily="34" charset="0"/>
              <a:buChar char="•"/>
            </a:pPr>
            <a:r>
              <a:rPr lang="en-US" i="0"/>
              <a:t>Each link will have an icon</a:t>
            </a:r>
          </a:p>
          <a:p>
            <a:pPr marL="342900" indent="-228600">
              <a:buFont typeface="Arial" panose="020B0604020202020204" pitchFamily="34" charset="0"/>
              <a:buChar char="•"/>
            </a:pPr>
            <a:r>
              <a:rPr lang="en-US" i="0"/>
              <a:t>Each icon will have a text label when hovered over with the cursor</a:t>
            </a:r>
          </a:p>
        </p:txBody>
      </p:sp>
    </p:spTree>
    <p:extLst>
      <p:ext uri="{BB962C8B-B14F-4D97-AF65-F5344CB8AC3E}">
        <p14:creationId xmlns:p14="http://schemas.microsoft.com/office/powerpoint/2010/main" val="125353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1" name="Rectangle 20">
            <a:extLst>
              <a:ext uri="{FF2B5EF4-FFF2-40B4-BE49-F238E27FC236}">
                <a16:creationId xmlns:a16="http://schemas.microsoft.com/office/drawing/2014/main" id="{175EAFFD-4A47-DD53-4F76-BD457E18B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7007ED2D-3922-F4A6-4D09-16B9784B6561}"/>
              </a:ext>
            </a:extLst>
          </p:cNvPr>
          <p:cNvSpPr>
            <a:spLocks noGrp="1"/>
          </p:cNvSpPr>
          <p:nvPr>
            <p:ph type="title"/>
          </p:nvPr>
        </p:nvSpPr>
        <p:spPr>
          <a:xfrm>
            <a:off x="521208" y="978408"/>
            <a:ext cx="3200400" cy="2432304"/>
          </a:xfrm>
        </p:spPr>
        <p:txBody>
          <a:bodyPr vert="horz" lIns="91440" tIns="45720" rIns="91440" bIns="45720" rtlCol="0" anchor="b">
            <a:normAutofit/>
          </a:bodyPr>
          <a:lstStyle/>
          <a:p>
            <a:r>
              <a:rPr lang="en-US" sz="4000" b="1" kern="1200">
                <a:solidFill>
                  <a:schemeClr val="tx1"/>
                </a:solidFill>
                <a:latin typeface="+mj-lt"/>
                <a:ea typeface="+mj-ea"/>
                <a:cs typeface="+mj-cs"/>
              </a:rPr>
              <a:t>Profile Page </a:t>
            </a:r>
          </a:p>
        </p:txBody>
      </p:sp>
      <p:sp>
        <p:nvSpPr>
          <p:cNvPr id="23" name="Freeform: Shape 22">
            <a:extLst>
              <a:ext uri="{FF2B5EF4-FFF2-40B4-BE49-F238E27FC236}">
                <a16:creationId xmlns:a16="http://schemas.microsoft.com/office/drawing/2014/main" id="{7CC1FECC-9CA4-341C-7E20-4728C5147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Text Placeholder 3">
            <a:extLst>
              <a:ext uri="{FF2B5EF4-FFF2-40B4-BE49-F238E27FC236}">
                <a16:creationId xmlns:a16="http://schemas.microsoft.com/office/drawing/2014/main" id="{A70B501A-D48F-1319-3B83-62FB2C623916}"/>
              </a:ext>
            </a:extLst>
          </p:cNvPr>
          <p:cNvSpPr>
            <a:spLocks noGrp="1"/>
          </p:cNvSpPr>
          <p:nvPr>
            <p:ph type="body" sz="half" idx="2"/>
          </p:nvPr>
        </p:nvSpPr>
        <p:spPr>
          <a:xfrm>
            <a:off x="521208" y="3538728"/>
            <a:ext cx="3200400" cy="2816352"/>
          </a:xfrm>
        </p:spPr>
        <p:txBody>
          <a:bodyPr vert="horz" lIns="91440" tIns="45720" rIns="91440" bIns="45720" rtlCol="0">
            <a:normAutofit/>
          </a:bodyPr>
          <a:lstStyle/>
          <a:p>
            <a:pPr marL="342900" indent="-228600">
              <a:lnSpc>
                <a:spcPct val="100000"/>
              </a:lnSpc>
              <a:buFont typeface="Arial" panose="020B0604020202020204" pitchFamily="34" charset="0"/>
              <a:buChar char="•"/>
            </a:pPr>
            <a:r>
              <a:rPr lang="en-US" sz="1700" i="0"/>
              <a:t>The profile page shows user data</a:t>
            </a:r>
          </a:p>
          <a:p>
            <a:pPr marL="342900" indent="-228600">
              <a:lnSpc>
                <a:spcPct val="100000"/>
              </a:lnSpc>
              <a:buFont typeface="Arial" panose="020B0604020202020204" pitchFamily="34" charset="0"/>
              <a:buChar char="•"/>
            </a:pPr>
            <a:r>
              <a:rPr lang="en-US" sz="1700" i="0"/>
              <a:t>The settings button allows the user to edit their profile picture, bio, and more</a:t>
            </a:r>
          </a:p>
          <a:p>
            <a:pPr marL="342900" indent="-228600">
              <a:lnSpc>
                <a:spcPct val="100000"/>
              </a:lnSpc>
              <a:buFont typeface="Arial" panose="020B0604020202020204" pitchFamily="34" charset="0"/>
              <a:buChar char="•"/>
            </a:pPr>
            <a:r>
              <a:rPr lang="en-US" sz="1700" i="0"/>
              <a:t>Podiums display the user's highest rated games, but can be changed</a:t>
            </a:r>
          </a:p>
          <a:p>
            <a:pPr marL="457200" indent="-228600">
              <a:lnSpc>
                <a:spcPct val="100000"/>
              </a:lnSpc>
              <a:buFont typeface="Arial" panose="020B0604020202020204" pitchFamily="34" charset="0"/>
              <a:buChar char="•"/>
            </a:pPr>
            <a:r>
              <a:rPr lang="en-US" sz="1700" i="0"/>
              <a:t>Both will pop out modals</a:t>
            </a:r>
          </a:p>
        </p:txBody>
      </p:sp>
      <p:pic>
        <p:nvPicPr>
          <p:cNvPr id="5" name="Picture Placeholder 4" descr="A screenshot of a video game&#10;&#10;AI-generated content may be incorrect.">
            <a:extLst>
              <a:ext uri="{FF2B5EF4-FFF2-40B4-BE49-F238E27FC236}">
                <a16:creationId xmlns:a16="http://schemas.microsoft.com/office/drawing/2014/main" id="{017DC320-8567-1ECE-FB7A-2CA2F0D04EA1}"/>
              </a:ext>
            </a:extLst>
          </p:cNvPr>
          <p:cNvPicPr>
            <a:picLocks noGrp="1" noChangeAspect="1"/>
          </p:cNvPicPr>
          <p:nvPr>
            <p:ph type="pic" idx="1"/>
          </p:nvPr>
        </p:nvPicPr>
        <p:blipFill>
          <a:blip r:embed="rId2"/>
          <a:srcRect r="829" b="-1"/>
          <a:stretch>
            <a:fillRect/>
          </a:stretch>
        </p:blipFill>
        <p:spPr>
          <a:xfrm>
            <a:off x="4136609" y="970929"/>
            <a:ext cx="7534183" cy="5375076"/>
          </a:xfrm>
          <a:prstGeom prst="rect">
            <a:avLst/>
          </a:prstGeom>
        </p:spPr>
      </p:pic>
    </p:spTree>
    <p:extLst>
      <p:ext uri="{BB962C8B-B14F-4D97-AF65-F5344CB8AC3E}">
        <p14:creationId xmlns:p14="http://schemas.microsoft.com/office/powerpoint/2010/main" val="3698249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 name="Freeform: Shape 7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82" name="Rectangle 8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12D6701-6102-6FF4-8F85-B18F04BBF5F1}"/>
              </a:ext>
            </a:extLst>
          </p:cNvPr>
          <p:cNvSpPr>
            <a:spLocks noGrp="1"/>
          </p:cNvSpPr>
          <p:nvPr>
            <p:ph type="title"/>
          </p:nvPr>
        </p:nvSpPr>
        <p:spPr>
          <a:xfrm>
            <a:off x="521208" y="978408"/>
            <a:ext cx="4672584" cy="1783080"/>
          </a:xfrm>
        </p:spPr>
        <p:txBody>
          <a:bodyPr vert="horz" lIns="91440" tIns="45720" rIns="91440" bIns="45720" rtlCol="0" anchor="t">
            <a:normAutofit/>
          </a:bodyPr>
          <a:lstStyle/>
          <a:p>
            <a:r>
              <a:rPr lang="en-US" b="1" kern="1200">
                <a:solidFill>
                  <a:schemeClr val="tx1"/>
                </a:solidFill>
                <a:latin typeface="+mj-lt"/>
                <a:ea typeface="+mj-ea"/>
                <a:cs typeface="+mj-cs"/>
              </a:rPr>
              <a:t>Profile Edit Modal</a:t>
            </a:r>
          </a:p>
        </p:txBody>
      </p:sp>
      <p:sp>
        <p:nvSpPr>
          <p:cNvPr id="84" name="Rectangle 8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86" name="Rectangle 85">
            <a:extLst>
              <a:ext uri="{FF2B5EF4-FFF2-40B4-BE49-F238E27FC236}">
                <a16:creationId xmlns:a16="http://schemas.microsoft.com/office/drawing/2014/main" id="{759AF1ED-B4DF-4FC4-0966-1A758E6CA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35582" y="611650"/>
            <a:ext cx="583387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77" name="Graphic 76" descr="User">
            <a:extLst>
              <a:ext uri="{FF2B5EF4-FFF2-40B4-BE49-F238E27FC236}">
                <a16:creationId xmlns:a16="http://schemas.microsoft.com/office/drawing/2014/main" id="{0A4903BE-8D28-A235-F5D4-55DF6308E65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7867" y="3152503"/>
            <a:ext cx="3193501" cy="3193501"/>
          </a:xfrm>
          <a:prstGeom prst="rect">
            <a:avLst/>
          </a:prstGeom>
        </p:spPr>
      </p:pic>
      <p:sp>
        <p:nvSpPr>
          <p:cNvPr id="25" name="Text Placeholder 3">
            <a:extLst>
              <a:ext uri="{FF2B5EF4-FFF2-40B4-BE49-F238E27FC236}">
                <a16:creationId xmlns:a16="http://schemas.microsoft.com/office/drawing/2014/main" id="{C9632DC7-2F61-F5A4-4C91-A2E94FF25828}"/>
              </a:ext>
            </a:extLst>
          </p:cNvPr>
          <p:cNvSpPr>
            <a:spLocks noGrp="1"/>
          </p:cNvSpPr>
          <p:nvPr>
            <p:ph type="body" sz="half" idx="2"/>
          </p:nvPr>
        </p:nvSpPr>
        <p:spPr>
          <a:xfrm>
            <a:off x="5843016" y="1033272"/>
            <a:ext cx="5833872" cy="5312664"/>
          </a:xfrm>
        </p:spPr>
        <p:txBody>
          <a:bodyPr vert="horz" lIns="91440" tIns="45720" rIns="91440" bIns="45720" rtlCol="0">
            <a:normAutofit/>
          </a:bodyPr>
          <a:lstStyle/>
          <a:p>
            <a:pPr marL="342900" indent="-228600">
              <a:buFont typeface="Arial" panose="020B0604020202020204" pitchFamily="34" charset="0"/>
              <a:buChar char="•"/>
            </a:pPr>
            <a:r>
              <a:rPr lang="en-US" i="0"/>
              <a:t>In the edit modal, the user can:</a:t>
            </a:r>
          </a:p>
          <a:p>
            <a:pPr marL="857250" lvl="1" indent="-228600">
              <a:buFont typeface="Arial" panose="020B0604020202020204" pitchFamily="34" charset="0"/>
              <a:buChar char="•"/>
            </a:pPr>
            <a:r>
              <a:rPr lang="en-US" i="0"/>
              <a:t>Update unique </a:t>
            </a:r>
            <a:r>
              <a:rPr lang="en-US"/>
              <a:t>username</a:t>
            </a:r>
          </a:p>
          <a:p>
            <a:pPr marL="857250" lvl="1" indent="-228600">
              <a:buFont typeface="Arial" panose="020B0604020202020204" pitchFamily="34" charset="0"/>
              <a:buChar char="•"/>
            </a:pPr>
            <a:r>
              <a:rPr lang="en-US"/>
              <a:t>Update biography</a:t>
            </a:r>
          </a:p>
          <a:p>
            <a:pPr marL="857250" lvl="1" indent="-228600">
              <a:buFont typeface="Arial" panose="020B0604020202020204" pitchFamily="34" charset="0"/>
              <a:buChar char="•"/>
            </a:pPr>
            <a:r>
              <a:rPr lang="en-US"/>
              <a:t>Update profile picture</a:t>
            </a:r>
          </a:p>
          <a:p>
            <a:pPr marL="857250" lvl="1" indent="-228600">
              <a:buFont typeface="Arial" panose="020B0604020202020204" pitchFamily="34" charset="0"/>
              <a:buChar char="•"/>
            </a:pPr>
            <a:r>
              <a:rPr lang="en-US"/>
              <a:t>Add a birthday</a:t>
            </a:r>
          </a:p>
          <a:p>
            <a:pPr marL="342900" indent="-228600">
              <a:buFont typeface="Arial" panose="020B0604020202020204" pitchFamily="34" charset="0"/>
              <a:buChar char="•"/>
            </a:pPr>
            <a:r>
              <a:rPr lang="en-US" i="0"/>
              <a:t>There will be a save changes button, and a cancel button</a:t>
            </a:r>
          </a:p>
        </p:txBody>
      </p:sp>
    </p:spTree>
    <p:extLst>
      <p:ext uri="{BB962C8B-B14F-4D97-AF65-F5344CB8AC3E}">
        <p14:creationId xmlns:p14="http://schemas.microsoft.com/office/powerpoint/2010/main" val="700707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4" name="Rectangle 23">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3CCB1D-E505-3A7F-2CE7-A97E5DA1506E}"/>
              </a:ext>
            </a:extLst>
          </p:cNvPr>
          <p:cNvSpPr>
            <a:spLocks noGrp="1"/>
          </p:cNvSpPr>
          <p:nvPr>
            <p:ph type="title"/>
          </p:nvPr>
        </p:nvSpPr>
        <p:spPr>
          <a:xfrm>
            <a:off x="521208" y="978408"/>
            <a:ext cx="6263640" cy="1463040"/>
          </a:xfrm>
        </p:spPr>
        <p:txBody>
          <a:bodyPr vert="horz" lIns="91440" tIns="45720" rIns="91440" bIns="45720" rtlCol="0" anchor="t">
            <a:normAutofit/>
          </a:bodyPr>
          <a:lstStyle/>
          <a:p>
            <a:r>
              <a:rPr lang="en-US" b="1" kern="1200">
                <a:solidFill>
                  <a:schemeClr val="tx1"/>
                </a:solidFill>
                <a:latin typeface="+mj-lt"/>
                <a:ea typeface="+mj-ea"/>
                <a:cs typeface="+mj-cs"/>
              </a:rPr>
              <a:t>Podium Modal</a:t>
            </a:r>
          </a:p>
        </p:txBody>
      </p:sp>
      <p:sp>
        <p:nvSpPr>
          <p:cNvPr id="26" name="Freeform: Shape 25">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 Placeholder 3">
            <a:extLst>
              <a:ext uri="{FF2B5EF4-FFF2-40B4-BE49-F238E27FC236}">
                <a16:creationId xmlns:a16="http://schemas.microsoft.com/office/drawing/2014/main" id="{9ACC47FD-2E07-379D-3372-7608508B2268}"/>
              </a:ext>
            </a:extLst>
          </p:cNvPr>
          <p:cNvSpPr>
            <a:spLocks noGrp="1"/>
          </p:cNvSpPr>
          <p:nvPr>
            <p:ph type="body" sz="half" idx="2"/>
          </p:nvPr>
        </p:nvSpPr>
        <p:spPr>
          <a:xfrm>
            <a:off x="521208" y="2578608"/>
            <a:ext cx="6263640" cy="3767328"/>
          </a:xfrm>
        </p:spPr>
        <p:txBody>
          <a:bodyPr vert="horz" lIns="91440" tIns="45720" rIns="91440" bIns="45720" rtlCol="0">
            <a:normAutofit/>
          </a:bodyPr>
          <a:lstStyle/>
          <a:p>
            <a:pPr marL="342900" indent="-228600">
              <a:buFont typeface="Arial" panose="020B0604020202020204" pitchFamily="34" charset="0"/>
              <a:buChar char="•"/>
            </a:pPr>
            <a:r>
              <a:rPr lang="en-US" i="0"/>
              <a:t>If the user is not happy with the auto-populated data in a podium, they can edit it in this modal</a:t>
            </a:r>
          </a:p>
          <a:p>
            <a:pPr marL="342900" indent="-228600">
              <a:buFont typeface="Arial" panose="020B0604020202020204" pitchFamily="34" charset="0"/>
              <a:buChar char="•"/>
            </a:pPr>
            <a:r>
              <a:rPr lang="en-US" i="0"/>
              <a:t>All media related to the podium's type will appear in the second half of the modal</a:t>
            </a:r>
          </a:p>
          <a:p>
            <a:pPr marL="342900" indent="-228600">
              <a:buFont typeface="Arial" panose="020B0604020202020204" pitchFamily="34" charset="0"/>
              <a:buChar char="•"/>
            </a:pPr>
            <a:r>
              <a:rPr lang="en-US" i="0"/>
              <a:t>The user can drag and drop the desired media into each podium spot</a:t>
            </a:r>
          </a:p>
        </p:txBody>
      </p:sp>
      <p:pic>
        <p:nvPicPr>
          <p:cNvPr id="8" name="Graphic 7" descr="Star">
            <a:extLst>
              <a:ext uri="{FF2B5EF4-FFF2-40B4-BE49-F238E27FC236}">
                <a16:creationId xmlns:a16="http://schemas.microsoft.com/office/drawing/2014/main" id="{C69A5D54-06D4-0F31-250A-5FAB7F3C84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06492" y="976160"/>
            <a:ext cx="4364590" cy="4364590"/>
          </a:xfrm>
          <a:prstGeom prst="rect">
            <a:avLst/>
          </a:prstGeom>
        </p:spPr>
      </p:pic>
    </p:spTree>
    <p:extLst>
      <p:ext uri="{BB962C8B-B14F-4D97-AF65-F5344CB8AC3E}">
        <p14:creationId xmlns:p14="http://schemas.microsoft.com/office/powerpoint/2010/main" val="1633558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175EAFFD-4A47-DD53-4F76-BD457E18B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746DE93-84A3-611C-8310-B881D65F3ADB}"/>
              </a:ext>
            </a:extLst>
          </p:cNvPr>
          <p:cNvSpPr>
            <a:spLocks noGrp="1"/>
          </p:cNvSpPr>
          <p:nvPr>
            <p:ph type="title"/>
          </p:nvPr>
        </p:nvSpPr>
        <p:spPr>
          <a:xfrm>
            <a:off x="521208" y="978408"/>
            <a:ext cx="3200400" cy="2432304"/>
          </a:xfrm>
        </p:spPr>
        <p:txBody>
          <a:bodyPr vert="horz" lIns="91440" tIns="45720" rIns="91440" bIns="45720" rtlCol="0" anchor="b">
            <a:normAutofit/>
          </a:bodyPr>
          <a:lstStyle/>
          <a:p>
            <a:r>
              <a:rPr lang="en-US" sz="4000" b="1" kern="1200">
                <a:solidFill>
                  <a:schemeClr val="tx1"/>
                </a:solidFill>
                <a:latin typeface="+mj-lt"/>
                <a:ea typeface="+mj-ea"/>
                <a:cs typeface="+mj-cs"/>
              </a:rPr>
              <a:t>User Lists</a:t>
            </a:r>
          </a:p>
        </p:txBody>
      </p:sp>
      <p:sp>
        <p:nvSpPr>
          <p:cNvPr id="14" name="Freeform: Shape 13">
            <a:extLst>
              <a:ext uri="{FF2B5EF4-FFF2-40B4-BE49-F238E27FC236}">
                <a16:creationId xmlns:a16="http://schemas.microsoft.com/office/drawing/2014/main" id="{7CC1FECC-9CA4-341C-7E20-4728C5147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Text Placeholder 3">
            <a:extLst>
              <a:ext uri="{FF2B5EF4-FFF2-40B4-BE49-F238E27FC236}">
                <a16:creationId xmlns:a16="http://schemas.microsoft.com/office/drawing/2014/main" id="{FFEF6E1B-5933-DAFB-530F-659EB39AF95A}"/>
              </a:ext>
            </a:extLst>
          </p:cNvPr>
          <p:cNvSpPr>
            <a:spLocks noGrp="1"/>
          </p:cNvSpPr>
          <p:nvPr>
            <p:ph type="body" sz="half" idx="2"/>
          </p:nvPr>
        </p:nvSpPr>
        <p:spPr>
          <a:xfrm>
            <a:off x="521208" y="3538728"/>
            <a:ext cx="3200400" cy="2816352"/>
          </a:xfrm>
        </p:spPr>
        <p:txBody>
          <a:bodyPr vert="horz" lIns="91440" tIns="45720" rIns="91440" bIns="45720" rtlCol="0">
            <a:normAutofit/>
          </a:bodyPr>
          <a:lstStyle/>
          <a:p>
            <a:pPr marL="342900" indent="-228600">
              <a:lnSpc>
                <a:spcPct val="100000"/>
              </a:lnSpc>
              <a:buFont typeface="Arial" panose="020B0604020202020204" pitchFamily="34" charset="0"/>
              <a:buChar char="•"/>
            </a:pPr>
            <a:r>
              <a:rPr lang="en-US" sz="1700" i="0"/>
              <a:t>Each list will be separated into media types</a:t>
            </a:r>
          </a:p>
          <a:p>
            <a:pPr marL="342900" indent="-228600">
              <a:lnSpc>
                <a:spcPct val="100000"/>
              </a:lnSpc>
              <a:buFont typeface="Arial" panose="020B0604020202020204" pitchFamily="34" charset="0"/>
              <a:buChar char="•"/>
            </a:pPr>
            <a:r>
              <a:rPr lang="en-US" sz="1700" i="0"/>
              <a:t>The filter dropdown menu allows the user to filter by completed, in-progress, plan-to-complete, or dropped</a:t>
            </a:r>
          </a:p>
          <a:p>
            <a:pPr marL="342900" indent="-228600">
              <a:lnSpc>
                <a:spcPct val="100000"/>
              </a:lnSpc>
              <a:buFont typeface="Arial" panose="020B0604020202020204" pitchFamily="34" charset="0"/>
              <a:buChar char="•"/>
            </a:pPr>
            <a:r>
              <a:rPr lang="en-US" sz="1700" i="0"/>
              <a:t>The list will be displayed from highest to lowest rating</a:t>
            </a:r>
          </a:p>
        </p:txBody>
      </p:sp>
      <p:pic>
        <p:nvPicPr>
          <p:cNvPr id="5" name="Picture Placeholder 4" descr="A blue and black text on a blue background&#10;&#10;AI-generated content may be incorrect.">
            <a:extLst>
              <a:ext uri="{FF2B5EF4-FFF2-40B4-BE49-F238E27FC236}">
                <a16:creationId xmlns:a16="http://schemas.microsoft.com/office/drawing/2014/main" id="{3FD1EBB2-CF07-E59D-CA32-4E48350D9EFD}"/>
              </a:ext>
            </a:extLst>
          </p:cNvPr>
          <p:cNvPicPr>
            <a:picLocks noGrp="1" noChangeAspect="1"/>
          </p:cNvPicPr>
          <p:nvPr>
            <p:ph type="pic" idx="1"/>
          </p:nvPr>
        </p:nvPicPr>
        <p:blipFill>
          <a:blip r:embed="rId2"/>
          <a:srcRect r="8889" b="-2"/>
          <a:stretch>
            <a:fillRect/>
          </a:stretch>
        </p:blipFill>
        <p:spPr>
          <a:xfrm>
            <a:off x="4136609" y="970929"/>
            <a:ext cx="7534183" cy="5375076"/>
          </a:xfrm>
          <a:prstGeom prst="rect">
            <a:avLst/>
          </a:prstGeom>
        </p:spPr>
      </p:pic>
    </p:spTree>
    <p:extLst>
      <p:ext uri="{BB962C8B-B14F-4D97-AF65-F5344CB8AC3E}">
        <p14:creationId xmlns:p14="http://schemas.microsoft.com/office/powerpoint/2010/main" val="384049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417B7F-3C2F-C0D6-AC50-F078BBAB0622}"/>
              </a:ext>
            </a:extLst>
          </p:cNvPr>
          <p:cNvSpPr>
            <a:spLocks noGrp="1"/>
          </p:cNvSpPr>
          <p:nvPr>
            <p:ph type="title"/>
          </p:nvPr>
        </p:nvSpPr>
        <p:spPr>
          <a:xfrm>
            <a:off x="521208" y="978408"/>
            <a:ext cx="11155680" cy="1115568"/>
          </a:xfrm>
        </p:spPr>
        <p:txBody>
          <a:bodyPr vert="horz" lIns="91440" tIns="45720" rIns="91440" bIns="45720" rtlCol="0" anchor="t">
            <a:normAutofit/>
          </a:bodyPr>
          <a:lstStyle/>
          <a:p>
            <a:r>
              <a:rPr lang="en-US" b="1" kern="1200">
                <a:solidFill>
                  <a:schemeClr val="tx1"/>
                </a:solidFill>
                <a:latin typeface="+mj-lt"/>
                <a:ea typeface="+mj-ea"/>
                <a:cs typeface="+mj-cs"/>
              </a:rPr>
              <a:t>Media Page</a:t>
            </a:r>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Placeholder 4" descr="A screenshot of a computer game&#10;&#10;AI-generated content may be incorrect.">
            <a:extLst>
              <a:ext uri="{FF2B5EF4-FFF2-40B4-BE49-F238E27FC236}">
                <a16:creationId xmlns:a16="http://schemas.microsoft.com/office/drawing/2014/main" id="{6DF925A9-CFA3-6DEE-2A3B-5EDD450AF604}"/>
              </a:ext>
            </a:extLst>
          </p:cNvPr>
          <p:cNvPicPr>
            <a:picLocks noGrp="1" noChangeAspect="1"/>
          </p:cNvPicPr>
          <p:nvPr>
            <p:ph type="pic" idx="1"/>
          </p:nvPr>
        </p:nvPicPr>
        <p:blipFill>
          <a:blip r:embed="rId2"/>
          <a:srcRect l="-1323" r="-529" b="-187"/>
          <a:stretch>
            <a:fillRect/>
          </a:stretch>
        </p:blipFill>
        <p:spPr>
          <a:xfrm>
            <a:off x="176973" y="1972540"/>
            <a:ext cx="6371012" cy="4495936"/>
          </a:xfrm>
          <a:prstGeom prst="rect">
            <a:avLst/>
          </a:prstGeom>
        </p:spPr>
      </p:pic>
      <p:sp>
        <p:nvSpPr>
          <p:cNvPr id="4" name="Text Placeholder 3">
            <a:extLst>
              <a:ext uri="{FF2B5EF4-FFF2-40B4-BE49-F238E27FC236}">
                <a16:creationId xmlns:a16="http://schemas.microsoft.com/office/drawing/2014/main" id="{814F3ADF-3576-AA9F-5985-9456D302AC1E}"/>
              </a:ext>
            </a:extLst>
          </p:cNvPr>
          <p:cNvSpPr>
            <a:spLocks noGrp="1"/>
          </p:cNvSpPr>
          <p:nvPr>
            <p:ph type="body" sz="half" idx="2"/>
          </p:nvPr>
        </p:nvSpPr>
        <p:spPr>
          <a:xfrm>
            <a:off x="6547104" y="2304288"/>
            <a:ext cx="5129784" cy="4050792"/>
          </a:xfrm>
        </p:spPr>
        <p:txBody>
          <a:bodyPr vert="horz" lIns="91440" tIns="45720" rIns="91440" bIns="45720" rtlCol="0">
            <a:normAutofit/>
          </a:bodyPr>
          <a:lstStyle/>
          <a:p>
            <a:pPr marL="342900" indent="-228600">
              <a:buFont typeface="Arial" panose="020B0604020202020204" pitchFamily="34" charset="0"/>
              <a:buChar char="•"/>
            </a:pPr>
            <a:r>
              <a:rPr lang="en-US" i="0"/>
              <a:t>The media page will be the landing page for all users, with or without signing in</a:t>
            </a:r>
          </a:p>
          <a:p>
            <a:pPr marL="342900" indent="-228600">
              <a:buFont typeface="Arial" panose="020B0604020202020204" pitchFamily="34" charset="0"/>
              <a:buChar char="•"/>
            </a:pPr>
            <a:r>
              <a:rPr lang="en-US" i="0"/>
              <a:t>The popular tab will show 5 pieces of media (for each category) that has been added by a lot of users on the website</a:t>
            </a:r>
          </a:p>
          <a:p>
            <a:pPr marL="342900" indent="-228600">
              <a:buFont typeface="Arial" panose="020B0604020202020204" pitchFamily="34" charset="0"/>
              <a:buChar char="•"/>
            </a:pPr>
            <a:r>
              <a:rPr lang="en-US" i="0"/>
              <a:t>Each piece of media can be added to the user's list by clicking the plus button</a:t>
            </a:r>
          </a:p>
        </p:txBody>
      </p:sp>
    </p:spTree>
    <p:extLst>
      <p:ext uri="{BB962C8B-B14F-4D97-AF65-F5344CB8AC3E}">
        <p14:creationId xmlns:p14="http://schemas.microsoft.com/office/powerpoint/2010/main" val="667754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175EAFFD-4A47-DD53-4F76-BD457E18B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EDD579A2-244D-B2D7-606F-1B3C72374BE5}"/>
              </a:ext>
            </a:extLst>
          </p:cNvPr>
          <p:cNvSpPr>
            <a:spLocks noGrp="1"/>
          </p:cNvSpPr>
          <p:nvPr>
            <p:ph type="title"/>
          </p:nvPr>
        </p:nvSpPr>
        <p:spPr>
          <a:xfrm>
            <a:off x="521208" y="978408"/>
            <a:ext cx="3200400" cy="2432304"/>
          </a:xfrm>
        </p:spPr>
        <p:txBody>
          <a:bodyPr vert="horz" lIns="91440" tIns="45720" rIns="91440" bIns="45720" rtlCol="0" anchor="b">
            <a:normAutofit/>
          </a:bodyPr>
          <a:lstStyle/>
          <a:p>
            <a:r>
              <a:rPr lang="en-US" sz="4000" b="1" kern="1200">
                <a:solidFill>
                  <a:schemeClr val="tx1"/>
                </a:solidFill>
                <a:latin typeface="+mj-lt"/>
                <a:ea typeface="+mj-ea"/>
                <a:cs typeface="+mj-cs"/>
              </a:rPr>
              <a:t>Adding Media</a:t>
            </a:r>
          </a:p>
        </p:txBody>
      </p:sp>
      <p:sp>
        <p:nvSpPr>
          <p:cNvPr id="14" name="Freeform: Shape 13">
            <a:extLst>
              <a:ext uri="{FF2B5EF4-FFF2-40B4-BE49-F238E27FC236}">
                <a16:creationId xmlns:a16="http://schemas.microsoft.com/office/drawing/2014/main" id="{7CC1FECC-9CA4-341C-7E20-4728C5147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Text Placeholder 3">
            <a:extLst>
              <a:ext uri="{FF2B5EF4-FFF2-40B4-BE49-F238E27FC236}">
                <a16:creationId xmlns:a16="http://schemas.microsoft.com/office/drawing/2014/main" id="{0B832B2B-F094-7396-2C7A-56BFE53F58CC}"/>
              </a:ext>
            </a:extLst>
          </p:cNvPr>
          <p:cNvSpPr>
            <a:spLocks noGrp="1"/>
          </p:cNvSpPr>
          <p:nvPr>
            <p:ph type="body" sz="half" idx="2"/>
          </p:nvPr>
        </p:nvSpPr>
        <p:spPr>
          <a:xfrm>
            <a:off x="521208" y="3538728"/>
            <a:ext cx="3200400" cy="2816352"/>
          </a:xfrm>
        </p:spPr>
        <p:txBody>
          <a:bodyPr vert="horz" lIns="91440" tIns="45720" rIns="91440" bIns="45720" rtlCol="0">
            <a:normAutofit/>
          </a:bodyPr>
          <a:lstStyle/>
          <a:p>
            <a:pPr marL="342900" indent="-228600">
              <a:lnSpc>
                <a:spcPct val="100000"/>
              </a:lnSpc>
              <a:buFont typeface="Arial" panose="020B0604020202020204" pitchFamily="34" charset="0"/>
              <a:buChar char="•"/>
            </a:pPr>
            <a:r>
              <a:rPr lang="en-US" sz="1400" i="0"/>
              <a:t>This modal will show more detail about the media, and the user can choose to add it to their list</a:t>
            </a:r>
          </a:p>
          <a:p>
            <a:pPr marL="342900" indent="-228600">
              <a:lnSpc>
                <a:spcPct val="100000"/>
              </a:lnSpc>
              <a:buFont typeface="Arial" panose="020B0604020202020204" pitchFamily="34" charset="0"/>
              <a:buChar char="•"/>
            </a:pPr>
            <a:r>
              <a:rPr lang="en-US" sz="1400" i="0"/>
              <a:t>The user can choose how much progress they made on this media</a:t>
            </a:r>
          </a:p>
          <a:p>
            <a:pPr marL="342900" indent="-228600">
              <a:lnSpc>
                <a:spcPct val="100000"/>
              </a:lnSpc>
              <a:buFont typeface="Arial" panose="020B0604020202020204" pitchFamily="34" charset="0"/>
              <a:buChar char="•"/>
            </a:pPr>
            <a:r>
              <a:rPr lang="en-US" sz="1400" i="0"/>
              <a:t>The user can rate it</a:t>
            </a:r>
          </a:p>
          <a:p>
            <a:pPr marL="342900" indent="-228600">
              <a:lnSpc>
                <a:spcPct val="100000"/>
              </a:lnSpc>
              <a:buFont typeface="Arial" panose="020B0604020202020204" pitchFamily="34" charset="0"/>
              <a:buChar char="•"/>
            </a:pPr>
            <a:r>
              <a:rPr lang="en-US" sz="1400" i="0"/>
              <a:t>Other data that can be entered by the user changes depends on the type of media</a:t>
            </a:r>
          </a:p>
        </p:txBody>
      </p:sp>
      <p:pic>
        <p:nvPicPr>
          <p:cNvPr id="5" name="Picture Placeholder 4" descr="A screenshot of a video game&#10;&#10;AI-generated content may be incorrect.">
            <a:extLst>
              <a:ext uri="{FF2B5EF4-FFF2-40B4-BE49-F238E27FC236}">
                <a16:creationId xmlns:a16="http://schemas.microsoft.com/office/drawing/2014/main" id="{097A0810-F597-45BD-D21A-4AFA6CCD24D7}"/>
              </a:ext>
            </a:extLst>
          </p:cNvPr>
          <p:cNvPicPr>
            <a:picLocks noGrp="1" noChangeAspect="1"/>
          </p:cNvPicPr>
          <p:nvPr>
            <p:ph type="pic" idx="1"/>
          </p:nvPr>
        </p:nvPicPr>
        <p:blipFill>
          <a:blip r:embed="rId2"/>
          <a:srcRect r="829" b="-1"/>
          <a:stretch>
            <a:fillRect/>
          </a:stretch>
        </p:blipFill>
        <p:spPr>
          <a:xfrm>
            <a:off x="4136609" y="970929"/>
            <a:ext cx="7534183" cy="5375076"/>
          </a:xfrm>
          <a:prstGeom prst="rect">
            <a:avLst/>
          </a:prstGeom>
        </p:spPr>
      </p:pic>
    </p:spTree>
    <p:extLst>
      <p:ext uri="{BB962C8B-B14F-4D97-AF65-F5344CB8AC3E}">
        <p14:creationId xmlns:p14="http://schemas.microsoft.com/office/powerpoint/2010/main" val="2013879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7" name="Rectangle 16">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916A631-9962-F605-9405-FCF5F1565056}"/>
              </a:ext>
            </a:extLst>
          </p:cNvPr>
          <p:cNvSpPr>
            <a:spLocks noGrp="1"/>
          </p:cNvSpPr>
          <p:nvPr>
            <p:ph type="title"/>
          </p:nvPr>
        </p:nvSpPr>
        <p:spPr>
          <a:xfrm>
            <a:off x="6153912" y="978408"/>
            <a:ext cx="5513832" cy="1463040"/>
          </a:xfrm>
        </p:spPr>
        <p:txBody>
          <a:bodyPr vert="horz" lIns="91440" tIns="45720" rIns="91440" bIns="45720" rtlCol="0" anchor="t">
            <a:normAutofit/>
          </a:bodyPr>
          <a:lstStyle/>
          <a:p>
            <a:r>
              <a:rPr lang="en-US" b="1" kern="1200">
                <a:solidFill>
                  <a:schemeClr val="tx1"/>
                </a:solidFill>
                <a:latin typeface="+mj-lt"/>
                <a:ea typeface="+mj-ea"/>
                <a:cs typeface="+mj-cs"/>
              </a:rPr>
              <a:t>Friend Activity</a:t>
            </a:r>
          </a:p>
        </p:txBody>
      </p:sp>
      <p:sp>
        <p:nvSpPr>
          <p:cNvPr id="18" name="Freeform: Shape 17">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8484" y="508090"/>
            <a:ext cx="5513832"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 Placeholder 3">
            <a:extLst>
              <a:ext uri="{FF2B5EF4-FFF2-40B4-BE49-F238E27FC236}">
                <a16:creationId xmlns:a16="http://schemas.microsoft.com/office/drawing/2014/main" id="{6F5D333B-BB50-2041-7014-202D5028D9B6}"/>
              </a:ext>
            </a:extLst>
          </p:cNvPr>
          <p:cNvSpPr>
            <a:spLocks noGrp="1"/>
          </p:cNvSpPr>
          <p:nvPr>
            <p:ph type="body" sz="half" idx="2"/>
          </p:nvPr>
        </p:nvSpPr>
        <p:spPr>
          <a:xfrm>
            <a:off x="6153912" y="2578608"/>
            <a:ext cx="5513832" cy="3767328"/>
          </a:xfrm>
        </p:spPr>
        <p:txBody>
          <a:bodyPr vert="horz" lIns="91440" tIns="45720" rIns="91440" bIns="45720" rtlCol="0">
            <a:normAutofit/>
          </a:bodyPr>
          <a:lstStyle/>
          <a:p>
            <a:pPr marL="342900" indent="-228600">
              <a:buFont typeface="Arial" panose="020B0604020202020204" pitchFamily="34" charset="0"/>
              <a:buChar char="•"/>
            </a:pPr>
            <a:r>
              <a:rPr lang="en-US" i="0"/>
              <a:t>From this tab of the media page, users can search their friend's usernames and send friend requests</a:t>
            </a:r>
          </a:p>
          <a:p>
            <a:pPr marL="342900" indent="-228600">
              <a:buFont typeface="Arial" panose="020B0604020202020204" pitchFamily="34" charset="0"/>
              <a:buChar char="•"/>
            </a:pPr>
            <a:r>
              <a:rPr lang="en-US" i="0"/>
              <a:t>Incoming requests appear here as well</a:t>
            </a:r>
          </a:p>
          <a:p>
            <a:pPr marL="342900" indent="-228600">
              <a:buFont typeface="Arial" panose="020B0604020202020204" pitchFamily="34" charset="0"/>
              <a:buChar char="•"/>
            </a:pPr>
            <a:r>
              <a:rPr lang="en-US" i="0"/>
              <a:t>If the user has friends, their recently added media will populate the feed</a:t>
            </a:r>
          </a:p>
        </p:txBody>
      </p:sp>
      <p:pic>
        <p:nvPicPr>
          <p:cNvPr id="8" name="Picture Placeholder 4" descr="A screenshot of a computer game&#10;&#10;AI-generated content may be incorrect.">
            <a:extLst>
              <a:ext uri="{FF2B5EF4-FFF2-40B4-BE49-F238E27FC236}">
                <a16:creationId xmlns:a16="http://schemas.microsoft.com/office/drawing/2014/main" id="{FD41420B-3057-CA2D-475C-52F2C026A6E9}"/>
              </a:ext>
            </a:extLst>
          </p:cNvPr>
          <p:cNvPicPr>
            <a:picLocks noChangeAspect="1"/>
          </p:cNvPicPr>
          <p:nvPr/>
        </p:nvPicPr>
        <p:blipFill>
          <a:blip r:embed="rId2"/>
          <a:srcRect l="67725" t="48502" r="-1323" b="160"/>
          <a:stretch>
            <a:fillRect/>
          </a:stretch>
        </p:blipFill>
        <p:spPr>
          <a:xfrm>
            <a:off x="517869" y="988066"/>
            <a:ext cx="5157193" cy="5554037"/>
          </a:xfrm>
          <a:prstGeom prst="rect">
            <a:avLst/>
          </a:prstGeom>
        </p:spPr>
      </p:pic>
      <p:sp>
        <p:nvSpPr>
          <p:cNvPr id="10" name="Picture Placeholder 9">
            <a:extLst>
              <a:ext uri="{FF2B5EF4-FFF2-40B4-BE49-F238E27FC236}">
                <a16:creationId xmlns:a16="http://schemas.microsoft.com/office/drawing/2014/main" id="{08E230BF-1133-9624-6A22-BFAF296D59AD}"/>
              </a:ext>
            </a:extLst>
          </p:cNvPr>
          <p:cNvSpPr>
            <a:spLocks noGrp="1"/>
          </p:cNvSpPr>
          <p:nvPr>
            <p:ph type="pic" idx="1"/>
          </p:nvPr>
        </p:nvSpPr>
        <p:spPr/>
      </p:sp>
    </p:spTree>
    <p:extLst>
      <p:ext uri="{BB962C8B-B14F-4D97-AF65-F5344CB8AC3E}">
        <p14:creationId xmlns:p14="http://schemas.microsoft.com/office/powerpoint/2010/main" val="551547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AF74A5-3963-2B5F-CA6D-13C2426325BD}"/>
              </a:ext>
            </a:extLst>
          </p:cNvPr>
          <p:cNvSpPr>
            <a:spLocks noGrp="1"/>
          </p:cNvSpPr>
          <p:nvPr>
            <p:ph type="title"/>
          </p:nvPr>
        </p:nvSpPr>
        <p:spPr>
          <a:xfrm>
            <a:off x="5413248" y="978408"/>
            <a:ext cx="6263640" cy="1463040"/>
          </a:xfrm>
        </p:spPr>
        <p:txBody>
          <a:bodyPr vert="horz" lIns="91440" tIns="45720" rIns="91440" bIns="45720" rtlCol="0" anchor="t">
            <a:normAutofit/>
          </a:bodyPr>
          <a:lstStyle/>
          <a:p>
            <a:r>
              <a:rPr lang="en-US" b="1" kern="1200">
                <a:solidFill>
                  <a:schemeClr val="tx1"/>
                </a:solidFill>
                <a:latin typeface="+mj-lt"/>
                <a:ea typeface="+mj-ea"/>
                <a:cs typeface="+mj-cs"/>
              </a:rPr>
              <a:t>Countdowns</a:t>
            </a:r>
          </a:p>
        </p:txBody>
      </p:sp>
      <p:sp>
        <p:nvSpPr>
          <p:cNvPr id="14" name="Freeform: Shape 13">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 Placeholder 3">
            <a:extLst>
              <a:ext uri="{FF2B5EF4-FFF2-40B4-BE49-F238E27FC236}">
                <a16:creationId xmlns:a16="http://schemas.microsoft.com/office/drawing/2014/main" id="{0C891F7F-346E-76CD-76CF-390875E247D3}"/>
              </a:ext>
            </a:extLst>
          </p:cNvPr>
          <p:cNvSpPr>
            <a:spLocks noGrp="1"/>
          </p:cNvSpPr>
          <p:nvPr>
            <p:ph type="body" sz="half" idx="2"/>
          </p:nvPr>
        </p:nvSpPr>
        <p:spPr>
          <a:xfrm>
            <a:off x="5413248" y="2578608"/>
            <a:ext cx="6263640" cy="3767328"/>
          </a:xfrm>
        </p:spPr>
        <p:txBody>
          <a:bodyPr vert="horz" lIns="91440" tIns="45720" rIns="91440" bIns="45720" rtlCol="0">
            <a:normAutofit/>
          </a:bodyPr>
          <a:lstStyle/>
          <a:p>
            <a:pPr marL="342900" indent="-228600">
              <a:buFont typeface="Arial" panose="020B0604020202020204" pitchFamily="34" charset="0"/>
              <a:buChar char="•"/>
            </a:pPr>
            <a:r>
              <a:rPr lang="en-US" sz="2000" i="0"/>
              <a:t>The countdown tab of the media page displays countdowns of new media that the user has interacted with</a:t>
            </a:r>
          </a:p>
          <a:p>
            <a:pPr marL="342900" indent="-228600">
              <a:buFont typeface="Arial" panose="020B0604020202020204" pitchFamily="34" charset="0"/>
              <a:buChar char="•"/>
            </a:pPr>
            <a:r>
              <a:rPr lang="en-US" sz="2000" i="0"/>
              <a:t>The multiselect dropdown filter sorts by media type</a:t>
            </a:r>
          </a:p>
          <a:p>
            <a:pPr marL="342900" indent="-228600">
              <a:buFont typeface="Arial" panose="020B0604020202020204" pitchFamily="34" charset="0"/>
              <a:buChar char="•"/>
            </a:pPr>
            <a:r>
              <a:rPr lang="en-US" sz="2000" i="0"/>
              <a:t>The dropdown filter sorts by within 3 months, within the year, within the next couple years</a:t>
            </a:r>
          </a:p>
          <a:p>
            <a:pPr marL="342900" indent="-228600">
              <a:buFont typeface="Arial" panose="020B0604020202020204" pitchFamily="34" charset="0"/>
              <a:buChar char="•"/>
            </a:pPr>
            <a:r>
              <a:rPr lang="en-US" sz="2000" i="0"/>
              <a:t>The filters will apply after clicking the apply filter button</a:t>
            </a:r>
          </a:p>
        </p:txBody>
      </p:sp>
      <p:sp>
        <p:nvSpPr>
          <p:cNvPr id="6" name="Picture Placeholder 5">
            <a:extLst>
              <a:ext uri="{FF2B5EF4-FFF2-40B4-BE49-F238E27FC236}">
                <a16:creationId xmlns:a16="http://schemas.microsoft.com/office/drawing/2014/main" id="{3F9199BF-7236-70DB-9B2D-0045A0AD255E}"/>
              </a:ext>
            </a:extLst>
          </p:cNvPr>
          <p:cNvSpPr>
            <a:spLocks noGrp="1"/>
          </p:cNvSpPr>
          <p:nvPr>
            <p:ph type="pic" idx="1"/>
          </p:nvPr>
        </p:nvSpPr>
        <p:spPr/>
      </p:sp>
      <p:pic>
        <p:nvPicPr>
          <p:cNvPr id="8" name="Picture Placeholder 4" descr="A screenshot of a computer game&#10;&#10;AI-generated content may be incorrect.">
            <a:extLst>
              <a:ext uri="{FF2B5EF4-FFF2-40B4-BE49-F238E27FC236}">
                <a16:creationId xmlns:a16="http://schemas.microsoft.com/office/drawing/2014/main" id="{83198A8B-9934-C654-09F0-7F05D7417994}"/>
              </a:ext>
            </a:extLst>
          </p:cNvPr>
          <p:cNvPicPr>
            <a:picLocks noChangeAspect="1"/>
          </p:cNvPicPr>
          <p:nvPr/>
        </p:nvPicPr>
        <p:blipFill>
          <a:blip r:embed="rId2"/>
          <a:srcRect l="67592" t="378" r="-794" b="47696"/>
          <a:stretch>
            <a:fillRect/>
          </a:stretch>
        </p:blipFill>
        <p:spPr>
          <a:xfrm>
            <a:off x="515486" y="990236"/>
            <a:ext cx="4959823" cy="5487988"/>
          </a:xfrm>
          <a:prstGeom prst="rect">
            <a:avLst/>
          </a:prstGeom>
        </p:spPr>
      </p:pic>
    </p:spTree>
    <p:extLst>
      <p:ext uri="{BB962C8B-B14F-4D97-AF65-F5344CB8AC3E}">
        <p14:creationId xmlns:p14="http://schemas.microsoft.com/office/powerpoint/2010/main" val="2512832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933FD3-7556-1C99-8C26-028BA49E99E9}"/>
              </a:ext>
            </a:extLst>
          </p:cNvPr>
          <p:cNvSpPr>
            <a:spLocks noGrp="1"/>
          </p:cNvSpPr>
          <p:nvPr>
            <p:ph type="title"/>
          </p:nvPr>
        </p:nvSpPr>
        <p:spPr>
          <a:xfrm>
            <a:off x="521208" y="978408"/>
            <a:ext cx="11155680" cy="1463040"/>
          </a:xfrm>
        </p:spPr>
        <p:txBody>
          <a:bodyPr vert="horz" lIns="91440" tIns="45720" rIns="91440" bIns="45720" rtlCol="0" anchor="t">
            <a:normAutofit/>
          </a:bodyPr>
          <a:lstStyle/>
          <a:p>
            <a:r>
              <a:rPr lang="en-US" b="1" kern="1200">
                <a:solidFill>
                  <a:schemeClr val="tx1"/>
                </a:solidFill>
                <a:latin typeface="+mj-lt"/>
                <a:ea typeface="+mj-ea"/>
                <a:cs typeface="+mj-cs"/>
              </a:rPr>
              <a:t>Catalog Page</a:t>
            </a:r>
          </a:p>
        </p:txBody>
      </p:sp>
      <p:sp>
        <p:nvSpPr>
          <p:cNvPr id="4" name="Text Placeholder 3">
            <a:extLst>
              <a:ext uri="{FF2B5EF4-FFF2-40B4-BE49-F238E27FC236}">
                <a16:creationId xmlns:a16="http://schemas.microsoft.com/office/drawing/2014/main" id="{ED67F4F9-C3AE-9398-1D0E-CE9FDA6FBCC3}"/>
              </a:ext>
            </a:extLst>
          </p:cNvPr>
          <p:cNvSpPr>
            <a:spLocks noGrp="1"/>
          </p:cNvSpPr>
          <p:nvPr>
            <p:ph type="body" sz="half" idx="2"/>
          </p:nvPr>
        </p:nvSpPr>
        <p:spPr>
          <a:xfrm>
            <a:off x="521208" y="2578608"/>
            <a:ext cx="11155680" cy="3767328"/>
          </a:xfrm>
        </p:spPr>
        <p:txBody>
          <a:bodyPr vert="horz" lIns="91440" tIns="45720" rIns="91440" bIns="45720" rtlCol="0" anchor="t">
            <a:normAutofit/>
          </a:bodyPr>
          <a:lstStyle/>
          <a:p>
            <a:pPr marL="342900" indent="-228600">
              <a:buFont typeface="Arial" panose="020B0604020202020204" pitchFamily="34" charset="0"/>
              <a:buChar char="•"/>
            </a:pPr>
            <a:r>
              <a:rPr lang="en-US" i="0" dirty="0"/>
              <a:t>The user can browse the full catalog of media</a:t>
            </a:r>
          </a:p>
          <a:p>
            <a:pPr marL="342900" indent="-228600">
              <a:buFont typeface="Arial" panose="020B0604020202020204" pitchFamily="34" charset="0"/>
              <a:buChar char="•"/>
            </a:pPr>
            <a:r>
              <a:rPr lang="en-US" i="0" dirty="0"/>
              <a:t>The search bar allows the user to look up specific media</a:t>
            </a:r>
          </a:p>
          <a:p>
            <a:pPr marL="342900" indent="-228600">
              <a:buFont typeface="Arial" panose="020B0604020202020204" pitchFamily="34" charset="0"/>
              <a:buChar char="•"/>
            </a:pPr>
            <a:r>
              <a:rPr lang="en-US" i="0" dirty="0"/>
              <a:t>There will be two filter options:</a:t>
            </a:r>
          </a:p>
          <a:p>
            <a:pPr marL="800100" lvl="1" indent="-228600">
              <a:buFont typeface="Arial" panose="020B0604020202020204" pitchFamily="34" charset="0"/>
              <a:buChar char="•"/>
            </a:pPr>
            <a:r>
              <a:rPr lang="en-US" sz="1600" dirty="0"/>
              <a:t>A text field that allows the user to enter a release year</a:t>
            </a:r>
          </a:p>
          <a:p>
            <a:pPr marL="800100" lvl="1" indent="-228600">
              <a:buFont typeface="Arial" panose="020B0604020202020204" pitchFamily="34" charset="0"/>
              <a:buChar char="•"/>
            </a:pPr>
            <a:r>
              <a:rPr lang="en-US" sz="1600" dirty="0"/>
              <a:t>A multiselect dropdown menu for each media type, All, Games, Books, and Anime/Manga</a:t>
            </a:r>
          </a:p>
          <a:p>
            <a:pPr marL="342900" indent="-228600">
              <a:buFont typeface="Arial" panose="020B0604020202020204" pitchFamily="34" charset="0"/>
              <a:buChar char="•"/>
            </a:pPr>
            <a:r>
              <a:rPr lang="en-US" i="0" dirty="0"/>
              <a:t>30 pieces of media will load, and the user can load 30 more by pressing "Next Page"</a:t>
            </a:r>
          </a:p>
          <a:p>
            <a:pPr lvl="1" indent="-228600">
              <a:buFont typeface="Arial" panose="020B0604020202020204" pitchFamily="34" charset="0"/>
              <a:buChar char="•"/>
            </a:pPr>
            <a:endParaRPr lang="en-US"/>
          </a:p>
        </p:txBody>
      </p:sp>
      <p:sp>
        <p:nvSpPr>
          <p:cNvPr id="20" name="Freeform: Shape 19">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95759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22F2-8A6B-9F08-6DC3-3E7732FD5874}"/>
              </a:ext>
            </a:extLst>
          </p:cNvPr>
          <p:cNvSpPr>
            <a:spLocks noGrp="1"/>
          </p:cNvSpPr>
          <p:nvPr>
            <p:ph type="title"/>
          </p:nvPr>
        </p:nvSpPr>
        <p:spPr>
          <a:xfrm>
            <a:off x="521208" y="978408"/>
            <a:ext cx="7555992" cy="2453640"/>
          </a:xfrm>
        </p:spPr>
        <p:txBody>
          <a:bodyPr/>
          <a:lstStyle/>
          <a:p>
            <a:r>
              <a:rPr lang="en-US" dirty="0"/>
              <a:t>Risk/Difficult/Interesting Requirements</a:t>
            </a:r>
          </a:p>
        </p:txBody>
      </p:sp>
      <p:sp>
        <p:nvSpPr>
          <p:cNvPr id="3" name="Picture Placeholder 2">
            <a:extLst>
              <a:ext uri="{FF2B5EF4-FFF2-40B4-BE49-F238E27FC236}">
                <a16:creationId xmlns:a16="http://schemas.microsoft.com/office/drawing/2014/main" id="{9AFB1BCE-AA32-1E35-B62B-457CC157935F}"/>
              </a:ext>
            </a:extLst>
          </p:cNvPr>
          <p:cNvSpPr>
            <a:spLocks noGrp="1"/>
          </p:cNvSpPr>
          <p:nvPr>
            <p:ph type="pic" idx="1"/>
          </p:nvPr>
        </p:nvSpPr>
        <p:spPr/>
      </p:sp>
      <p:sp>
        <p:nvSpPr>
          <p:cNvPr id="4" name="Text Placeholder 3">
            <a:extLst>
              <a:ext uri="{FF2B5EF4-FFF2-40B4-BE49-F238E27FC236}">
                <a16:creationId xmlns:a16="http://schemas.microsoft.com/office/drawing/2014/main" id="{478F8AAA-173E-9976-F92D-DD6FD6C64859}"/>
              </a:ext>
            </a:extLst>
          </p:cNvPr>
          <p:cNvSpPr>
            <a:spLocks noGrp="1"/>
          </p:cNvSpPr>
          <p:nvPr>
            <p:ph type="body" sz="half" idx="2"/>
          </p:nvPr>
        </p:nvSpPr>
        <p:spPr>
          <a:xfrm>
            <a:off x="387096" y="2771046"/>
            <a:ext cx="6013704" cy="3217119"/>
          </a:xfrm>
        </p:spPr>
        <p:txBody>
          <a:bodyPr vert="horz" lIns="91440" tIns="45720" rIns="91440" bIns="45720" rtlCol="0" anchor="t">
            <a:normAutofit/>
          </a:bodyPr>
          <a:lstStyle/>
          <a:p>
            <a:pPr marL="342900" indent="-342900">
              <a:buFont typeface="Arial" panose="020B0604020202020204" pitchFamily="34" charset="0"/>
              <a:buChar char="•"/>
            </a:pPr>
            <a:r>
              <a:rPr lang="en-US" dirty="0"/>
              <a:t>(Risk) Dependence on external APIs</a:t>
            </a:r>
            <a:endParaRPr lang="en-US"/>
          </a:p>
          <a:p>
            <a:pPr marL="342900" indent="-342900">
              <a:buFont typeface="Arial" panose="020B0604020202020204" pitchFamily="34" charset="0"/>
              <a:buChar char="•"/>
            </a:pPr>
            <a:r>
              <a:rPr lang="en-US" dirty="0"/>
              <a:t>(Difficult) Filtering and sorting on the browsing page</a:t>
            </a:r>
          </a:p>
          <a:p>
            <a:pPr marL="342900" indent="-342900">
              <a:buFont typeface="Arial" panose="020B0604020202020204" pitchFamily="34" charset="0"/>
              <a:buChar char="•"/>
            </a:pPr>
            <a:r>
              <a:rPr lang="en-US" dirty="0"/>
              <a:t>(Interesting) Handling countdown timers across different user time zones</a:t>
            </a:r>
          </a:p>
          <a:p>
            <a:pPr marL="342900" indent="-342900">
              <a:buFont typeface="Arial" panose="020B0604020202020204" pitchFamily="34" charset="0"/>
              <a:buChar char="•"/>
            </a:pPr>
            <a:r>
              <a:rPr lang="en-US" dirty="0"/>
              <a:t>(Interesting) All in one app for tracking media</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111966226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14</Slides>
  <Notes>1</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GestaltVTI</vt:lpstr>
      <vt:lpstr>UrMedia</vt:lpstr>
      <vt:lpstr>Introduction</vt:lpstr>
      <vt:lpstr>Sign in/Sign up</vt:lpstr>
      <vt:lpstr>Navigation Bar</vt:lpstr>
      <vt:lpstr>Profile Page </vt:lpstr>
      <vt:lpstr>Profile Edit Modal</vt:lpstr>
      <vt:lpstr>Podium Modal</vt:lpstr>
      <vt:lpstr>User Lists</vt:lpstr>
      <vt:lpstr>Media Page</vt:lpstr>
      <vt:lpstr>Adding Media</vt:lpstr>
      <vt:lpstr>Friend Activity</vt:lpstr>
      <vt:lpstr>Countdowns</vt:lpstr>
      <vt:lpstr>Catalog Page</vt:lpstr>
      <vt:lpstr>Risk/Difficult/Interesting Requirements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61</cp:revision>
  <dcterms:created xsi:type="dcterms:W3CDTF">2026-02-11T21:56:21Z</dcterms:created>
  <dcterms:modified xsi:type="dcterms:W3CDTF">2026-02-12T16:09:05Z</dcterms:modified>
</cp:coreProperties>
</file>